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4572000" cy="6400800"/>
          </a:xfrm>
          <a:prstGeom prst="rect">
            <a:avLst/>
          </a:prstGeom>
          <a:solidFill>
            <a:srgbClr val="0D1B35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0"/>
            <a:ext cx="109728" cy="2194560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6583680" y="457200"/>
            <a:ext cx="2103120" cy="2103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972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600" kern="0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CORE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1554480"/>
            <a:ext cx="5943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Facial Recognition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Liveness Detection System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457200" y="320040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connectivity. Zero compromise. Real-time identity verification for any environment.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44805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NHAI Hackathon 2025  |  Team: Sentinel Labs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868680"/>
            <a:ext cx="4160520" cy="1691640"/>
          </a:xfrm>
          <a:prstGeom prst="rect">
            <a:avLst/>
          </a:prstGeom>
          <a:solidFill>
            <a:srgbClr val="111C38"/>
          </a:solidFill>
          <a:ln w="10160">
            <a:solidFill>
              <a:srgbClr val="1E306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033272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78408" y="10058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Internet, No Entry?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84632" y="1463040"/>
            <a:ext cx="3794760" cy="96012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toll booths, border crossings &amp; disaster zones lose authentication capability when connectivity drops.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754880" y="868680"/>
            <a:ext cx="4160520" cy="1691640"/>
          </a:xfrm>
          <a:prstGeom prst="rect">
            <a:avLst/>
          </a:prstGeom>
          <a:solidFill>
            <a:srgbClr val="111C38"/>
          </a:solidFill>
          <a:ln w="10160">
            <a:solidFill>
              <a:srgbClr val="1E306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1033272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13248" y="10058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Spoofing Vulnerabilities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919472" y="1463040"/>
            <a:ext cx="3794760" cy="96012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attacks, video replay, and deepfake injections fool traditional face-match systems.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320040" y="2743200"/>
            <a:ext cx="4160520" cy="1691640"/>
          </a:xfrm>
          <a:prstGeom prst="rect">
            <a:avLst/>
          </a:prstGeom>
          <a:solidFill>
            <a:srgbClr val="111C38"/>
          </a:solidFill>
          <a:ln w="10160">
            <a:solidFill>
              <a:srgbClr val="1E3060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2907792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78408" y="28803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Data Exposure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484632" y="3337560"/>
            <a:ext cx="3794760" cy="96012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Cloud-dependent systems transmit sensitive biometric data—risking breaches &amp; regulatory violations.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4754880" y="2743200"/>
            <a:ext cx="4160520" cy="1691640"/>
          </a:xfrm>
          <a:prstGeom prst="rect">
            <a:avLst/>
          </a:prstGeom>
          <a:solidFill>
            <a:srgbClr val="111C38"/>
          </a:solidFill>
          <a:ln w="10160">
            <a:solidFill>
              <a:srgbClr val="1E3060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2907792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413248" y="28803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Downtime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4919472" y="3337560"/>
            <a:ext cx="3794760" cy="96012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minute offline = vehicles stranded, workers locked out, and revenue lost.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365760" y="4617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solutions fail when it matters most.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9144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82296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Core — a fully offline-capable biometric authentication platform combining on-device face recognition with active liveness detection, encrypted local data storage, and smart sync when connectivity returns.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320040" y="1828800"/>
            <a:ext cx="2011680" cy="2697480"/>
          </a:xfrm>
          <a:prstGeom prst="rect">
            <a:avLst/>
          </a:prstGeom>
          <a:solidFill>
            <a:srgbClr val="111C38"/>
          </a:solidFill>
          <a:ln w="10160">
            <a:solidFill>
              <a:srgbClr val="1E306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468880" y="1828800"/>
            <a:ext cx="2011680" cy="2697480"/>
          </a:xfrm>
          <a:prstGeom prst="rect">
            <a:avLst/>
          </a:prstGeom>
          <a:solidFill>
            <a:srgbClr val="111C38"/>
          </a:solidFill>
          <a:ln w="10160">
            <a:solidFill>
              <a:srgbClr val="1E306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617720" y="1828800"/>
            <a:ext cx="2011680" cy="2697480"/>
          </a:xfrm>
          <a:prstGeom prst="rect">
            <a:avLst/>
          </a:prstGeom>
          <a:solidFill>
            <a:srgbClr val="111C38"/>
          </a:solidFill>
          <a:ln w="10160">
            <a:solidFill>
              <a:srgbClr val="1E306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766560" y="1828800"/>
            <a:ext cx="2011680" cy="2697480"/>
          </a:xfrm>
          <a:prstGeom prst="rect">
            <a:avLst/>
          </a:prstGeom>
          <a:solidFill>
            <a:srgbClr val="111C38"/>
          </a:solidFill>
          <a:ln w="10160">
            <a:solidFill>
              <a:srgbClr val="1E306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20040" y="4663440"/>
            <a:ext cx="8503920" cy="274320"/>
          </a:xfrm>
          <a:prstGeom prst="rect">
            <a:avLst/>
          </a:prstGeom>
          <a:solidFill>
            <a:srgbClr val="061030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466344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Android &amp; iOS · Raspberry Pi · Edge Devices · Toll Gate Hardware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938528"/>
            <a:ext cx="594360" cy="5943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1480" y="258775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11480" y="32004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local inference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cloud dependency</a:t>
            </a:r>
            <a:endParaRPr lang="en-US" sz="10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4680" y="1938528"/>
            <a:ext cx="594360" cy="5943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560320" y="258775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Liveness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2560320" y="32004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Anti-spoofing via depth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gesture challenges</a:t>
            </a:r>
            <a:endParaRPr lang="en-US" sz="10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1938528"/>
            <a:ext cx="594360" cy="5943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858000" y="258775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Cloud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6858000" y="32004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batch upload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resolution</a:t>
            </a:r>
            <a:endParaRPr lang="en-US" sz="10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0" y="1938528"/>
            <a:ext cx="594360" cy="59436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709160" y="258775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Local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Queue</a:t>
            </a:r>
            <a:endParaRPr lang="en-US" sz="1150" dirty="0"/>
          </a:p>
        </p:txBody>
      </p:sp>
      <p:sp>
        <p:nvSpPr>
          <p:cNvPr id="22" name="Text 15"/>
          <p:cNvSpPr/>
          <p:nvPr/>
        </p:nvSpPr>
        <p:spPr>
          <a:xfrm>
            <a:off x="4709160" y="32004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offline storage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Auto-sync on reconnect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960120"/>
            <a:ext cx="8503920" cy="1170432"/>
          </a:xfrm>
          <a:prstGeom prst="rect">
            <a:avLst/>
          </a:prstGeom>
          <a:solidFill>
            <a:srgbClr val="111C38"/>
          </a:solidFill>
          <a:ln w="19050">
            <a:solidFill>
              <a:srgbClr val="7B61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103120" y="1252728"/>
            <a:ext cx="1783080" cy="548640"/>
          </a:xfrm>
          <a:prstGeom prst="roundRect">
            <a:avLst>
              <a:gd name="adj" fmla="val 13333"/>
            </a:avLst>
          </a:prstGeom>
          <a:solidFill>
            <a:srgbClr val="0D2045"/>
          </a:solidFill>
          <a:ln w="10160">
            <a:solidFill>
              <a:srgbClr val="7B61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48840" y="1252728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(React Native / Flutter)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023360" y="1252728"/>
            <a:ext cx="1783080" cy="548640"/>
          </a:xfrm>
          <a:prstGeom prst="roundRect">
            <a:avLst>
              <a:gd name="adj" fmla="val 13333"/>
            </a:avLst>
          </a:prstGeom>
          <a:solidFill>
            <a:srgbClr val="0D2045"/>
          </a:solidFill>
          <a:ln w="10160">
            <a:solidFill>
              <a:srgbClr val="7B6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69080" y="1252728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UI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943600" y="1252728"/>
            <a:ext cx="1783080" cy="548640"/>
          </a:xfrm>
          <a:prstGeom prst="roundRect">
            <a:avLst>
              <a:gd name="adj" fmla="val 13333"/>
            </a:avLst>
          </a:prstGeom>
          <a:solidFill>
            <a:srgbClr val="0D2045"/>
          </a:solidFill>
          <a:ln w="10160">
            <a:solidFill>
              <a:srgbClr val="7B61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89320" y="1252728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Capture Module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0" y="2130552"/>
            <a:ext cx="0" cy="201168"/>
          </a:xfrm>
          <a:prstGeom prst="line">
            <a:avLst/>
          </a:prstGeom>
          <a:noFill/>
          <a:ln w="19050">
            <a:solidFill>
              <a:srgbClr val="8899BB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320040" y="2331720"/>
            <a:ext cx="8503920" cy="1170432"/>
          </a:xfrm>
          <a:prstGeom prst="rect">
            <a:avLst/>
          </a:prstGeom>
          <a:solidFill>
            <a:srgbClr val="111C38"/>
          </a:solidFill>
          <a:ln w="19050">
            <a:solidFill>
              <a:srgbClr val="00C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423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LAYER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103120" y="2624328"/>
            <a:ext cx="1783080" cy="548640"/>
          </a:xfrm>
          <a:prstGeom prst="roundRect">
            <a:avLst>
              <a:gd name="adj" fmla="val 13333"/>
            </a:avLst>
          </a:prstGeom>
          <a:solidFill>
            <a:srgbClr val="0D2045"/>
          </a:solidFill>
          <a:ln w="10160">
            <a:solidFill>
              <a:srgbClr val="00C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48840" y="2624328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Detection (MediaPipe)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023360" y="2624328"/>
            <a:ext cx="1783080" cy="548640"/>
          </a:xfrm>
          <a:prstGeom prst="roundRect">
            <a:avLst>
              <a:gd name="adj" fmla="val 13333"/>
            </a:avLst>
          </a:prstGeom>
          <a:solidFill>
            <a:srgbClr val="0D2045"/>
          </a:solidFill>
          <a:ln w="10160">
            <a:solidFill>
              <a:srgbClr val="00C6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69080" y="2624328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 Engine (Depth + Blink + Gesture)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943600" y="2624328"/>
            <a:ext cx="1783080" cy="548640"/>
          </a:xfrm>
          <a:prstGeom prst="roundRect">
            <a:avLst>
              <a:gd name="adj" fmla="val 13333"/>
            </a:avLst>
          </a:prstGeom>
          <a:solidFill>
            <a:srgbClr val="0D2045"/>
          </a:solidFill>
          <a:ln w="10160">
            <a:solidFill>
              <a:srgbClr val="00C6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89320" y="2624328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 (FaceNet/ArcFace)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0" y="3502152"/>
            <a:ext cx="0" cy="201168"/>
          </a:xfrm>
          <a:prstGeom prst="line">
            <a:avLst/>
          </a:prstGeom>
          <a:noFill/>
          <a:ln w="19050">
            <a:solidFill>
              <a:srgbClr val="8899BB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320040" y="3703320"/>
            <a:ext cx="8503920" cy="1170432"/>
          </a:xfrm>
          <a:prstGeom prst="rect">
            <a:avLst/>
          </a:prstGeom>
          <a:solidFill>
            <a:srgbClr val="111C38"/>
          </a:solidFill>
          <a:ln w="19050">
            <a:solidFill>
              <a:srgbClr val="00E5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794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103120" y="3995928"/>
            <a:ext cx="1783080" cy="548640"/>
          </a:xfrm>
          <a:prstGeom prst="roundRect">
            <a:avLst>
              <a:gd name="adj" fmla="val 13333"/>
            </a:avLst>
          </a:prstGeom>
          <a:solidFill>
            <a:srgbClr val="0D2045"/>
          </a:solidFill>
          <a:ln w="10160">
            <a:solidFill>
              <a:srgbClr val="00E5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48840" y="3995928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Encrypted DB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023360" y="3995928"/>
            <a:ext cx="1783080" cy="548640"/>
          </a:xfrm>
          <a:prstGeom prst="roundRect">
            <a:avLst>
              <a:gd name="adj" fmla="val 13333"/>
            </a:avLst>
          </a:prstGeom>
          <a:solidFill>
            <a:srgbClr val="0D2045"/>
          </a:solidFill>
          <a:ln w="10160">
            <a:solidFill>
              <a:srgbClr val="00E5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69080" y="3995928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Event Queue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943600" y="3995928"/>
            <a:ext cx="1783080" cy="548640"/>
          </a:xfrm>
          <a:prstGeom prst="roundRect">
            <a:avLst>
              <a:gd name="adj" fmla="val 13333"/>
            </a:avLst>
          </a:prstGeom>
          <a:solidFill>
            <a:srgbClr val="0D2045"/>
          </a:solidFill>
          <a:ln w="10160">
            <a:solidFill>
              <a:srgbClr val="00E5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89320" y="3995928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Sync Service (REST/gRPC)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955280" y="960120"/>
            <a:ext cx="868680" cy="4169664"/>
          </a:xfrm>
          <a:prstGeom prst="rect">
            <a:avLst/>
          </a:prstGeom>
          <a:solidFill>
            <a:srgbClr val="0A1528"/>
          </a:solidFill>
          <a:ln w="10160">
            <a:solidFill>
              <a:srgbClr val="1E30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0" y="2286000"/>
            <a:ext cx="868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spc="100" kern="0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65760" y="4617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processing runs locally. Cloud sync is optional and encrypted end-to-end.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Workflow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960120"/>
            <a:ext cx="1325880" cy="3200400"/>
          </a:xfrm>
          <a:prstGeom prst="rect">
            <a:avLst/>
          </a:prstGeom>
          <a:solidFill>
            <a:srgbClr val="111C38"/>
          </a:solidFill>
          <a:ln w="10160">
            <a:solidFill>
              <a:srgbClr val="1E306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124712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10698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347472" y="16916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Launch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47472" y="2194560"/>
            <a:ext cx="1188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Splash → Login</a:t>
            </a:r>
            <a:endParaRPr lang="en-US" sz="9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credentials verified locally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1600200" y="2560320"/>
            <a:ext cx="118872" cy="0"/>
          </a:xfrm>
          <a:prstGeom prst="line">
            <a:avLst/>
          </a:prstGeom>
          <a:noFill/>
          <a:ln w="25400">
            <a:solidFill>
              <a:srgbClr val="00C6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719072" y="960120"/>
            <a:ext cx="1325880" cy="3200400"/>
          </a:xfrm>
          <a:prstGeom prst="rect">
            <a:avLst/>
          </a:prstGeom>
          <a:solidFill>
            <a:srgbClr val="111C38"/>
          </a:solidFill>
          <a:ln w="10160">
            <a:solidFill>
              <a:srgbClr val="1E306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2264" y="1124712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764792" y="10698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792224" y="16916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Capture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792224" y="2194560"/>
            <a:ext cx="1188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activates</a:t>
            </a:r>
            <a:endParaRPr lang="en-US" sz="9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detection &amp; alignment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3044952" y="2560320"/>
            <a:ext cx="118872" cy="0"/>
          </a:xfrm>
          <a:prstGeom prst="line">
            <a:avLst/>
          </a:prstGeom>
          <a:noFill/>
          <a:ln w="25400">
            <a:solidFill>
              <a:srgbClr val="00C6F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163824" y="960120"/>
            <a:ext cx="1325880" cy="3200400"/>
          </a:xfrm>
          <a:prstGeom prst="rect">
            <a:avLst/>
          </a:prstGeom>
          <a:solidFill>
            <a:srgbClr val="111C38"/>
          </a:solidFill>
          <a:ln w="10160">
            <a:solidFill>
              <a:srgbClr val="1E306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7016" y="1124712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209544" y="10698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3236976" y="16916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 Check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3236976" y="2194560"/>
            <a:ext cx="1188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 / head-turn challenge</a:t>
            </a:r>
            <a:endParaRPr lang="en-US" sz="9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map anti-spoof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4489704" y="2560320"/>
            <a:ext cx="118872" cy="0"/>
          </a:xfrm>
          <a:prstGeom prst="line">
            <a:avLst/>
          </a:prstGeom>
          <a:noFill/>
          <a:ln w="25400">
            <a:solidFill>
              <a:srgbClr val="00C6FF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608576" y="960120"/>
            <a:ext cx="1325880" cy="3200400"/>
          </a:xfrm>
          <a:prstGeom prst="rect">
            <a:avLst/>
          </a:prstGeom>
          <a:solidFill>
            <a:srgbClr val="111C38"/>
          </a:solidFill>
          <a:ln w="10160">
            <a:solidFill>
              <a:srgbClr val="1E3060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768" y="1124712"/>
            <a:ext cx="502920" cy="5029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654296" y="10698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4681728" y="16916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4681728" y="2194560"/>
            <a:ext cx="1188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vector vs local DB</a:t>
            </a:r>
            <a:endParaRPr lang="en-US" sz="9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≥ threshold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5934456" y="2560320"/>
            <a:ext cx="118872" cy="0"/>
          </a:xfrm>
          <a:prstGeom prst="line">
            <a:avLst/>
          </a:prstGeom>
          <a:noFill/>
          <a:ln w="25400">
            <a:solidFill>
              <a:srgbClr val="00C6FF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6053328" y="960120"/>
            <a:ext cx="1325880" cy="3200400"/>
          </a:xfrm>
          <a:prstGeom prst="rect">
            <a:avLst/>
          </a:prstGeom>
          <a:solidFill>
            <a:srgbClr val="111C38"/>
          </a:solidFill>
          <a:ln w="10160">
            <a:solidFill>
              <a:srgbClr val="1E3060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1124712"/>
            <a:ext cx="502920" cy="50292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099048" y="10698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6126480" y="16916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&amp; Queue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6126480" y="2194560"/>
            <a:ext cx="1188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success/failure logged</a:t>
            </a:r>
            <a:endParaRPr lang="en-US" sz="9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Queued for sync</a:t>
            </a:r>
            <a:endParaRPr lang="en-US" sz="950" dirty="0"/>
          </a:p>
        </p:txBody>
      </p:sp>
      <p:sp>
        <p:nvSpPr>
          <p:cNvPr id="32" name="Shape 25"/>
          <p:cNvSpPr/>
          <p:nvPr/>
        </p:nvSpPr>
        <p:spPr>
          <a:xfrm>
            <a:off x="7379208" y="2560320"/>
            <a:ext cx="118872" cy="0"/>
          </a:xfrm>
          <a:prstGeom prst="line">
            <a:avLst/>
          </a:prstGeom>
          <a:noFill/>
          <a:ln w="25400">
            <a:solidFill>
              <a:srgbClr val="00C6FF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7498080" y="960120"/>
            <a:ext cx="1325880" cy="3200400"/>
          </a:xfrm>
          <a:prstGeom prst="rect">
            <a:avLst/>
          </a:prstGeom>
          <a:solidFill>
            <a:srgbClr val="111C38"/>
          </a:solidFill>
          <a:ln w="10160">
            <a:solidFill>
              <a:srgbClr val="1E3060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91272" y="1124712"/>
            <a:ext cx="502920" cy="50292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7543800" y="10698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7571232" y="16916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Sync</a:t>
            </a:r>
            <a:endParaRPr lang="en-US" sz="1100" dirty="0"/>
          </a:p>
        </p:txBody>
      </p:sp>
      <p:sp>
        <p:nvSpPr>
          <p:cNvPr id="37" name="Text 29"/>
          <p:cNvSpPr/>
          <p:nvPr/>
        </p:nvSpPr>
        <p:spPr>
          <a:xfrm>
            <a:off x="7571232" y="2194560"/>
            <a:ext cx="1188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Auto-sync on connectivity</a:t>
            </a:r>
            <a:endParaRPr lang="en-US" sz="9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batch upload</a:t>
            </a:r>
            <a:endParaRPr lang="en-US" sz="950" dirty="0"/>
          </a:p>
        </p:txBody>
      </p:sp>
      <p:sp>
        <p:nvSpPr>
          <p:cNvPr id="38" name="Shape 30"/>
          <p:cNvSpPr/>
          <p:nvPr/>
        </p:nvSpPr>
        <p:spPr>
          <a:xfrm>
            <a:off x="274320" y="4297680"/>
            <a:ext cx="4114800" cy="502920"/>
          </a:xfrm>
          <a:prstGeom prst="rect">
            <a:avLst/>
          </a:prstGeom>
          <a:solidFill>
            <a:srgbClr val="0A1A0A"/>
          </a:solidFill>
          <a:ln w="10160">
            <a:solidFill>
              <a:srgbClr val="00E5A0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320040" y="43159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Steps 01–05 work fully OFFLINE</a:t>
            </a:r>
            <a:endParaRPr lang="en-US" sz="1200" dirty="0"/>
          </a:p>
        </p:txBody>
      </p:sp>
      <p:sp>
        <p:nvSpPr>
          <p:cNvPr id="40" name="Shape 32"/>
          <p:cNvSpPr/>
          <p:nvPr/>
        </p:nvSpPr>
        <p:spPr>
          <a:xfrm>
            <a:off x="4754880" y="4297680"/>
            <a:ext cx="4069080" cy="502920"/>
          </a:xfrm>
          <a:prstGeom prst="rect">
            <a:avLst/>
          </a:prstGeom>
          <a:solidFill>
            <a:srgbClr val="0A0A1A"/>
          </a:solidFill>
          <a:ln w="10160">
            <a:solidFill>
              <a:srgbClr val="00C6FF"/>
            </a:solidFill>
            <a:prstDash val="solid"/>
          </a:ln>
        </p:spPr>
      </p:sp>
      <p:sp>
        <p:nvSpPr>
          <p:cNvPr id="41" name="Text 33"/>
          <p:cNvSpPr/>
          <p:nvPr/>
        </p:nvSpPr>
        <p:spPr>
          <a:xfrm>
            <a:off x="4800600" y="4315968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 Step 06 syncs when connectivity restores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914400"/>
            <a:ext cx="4160520" cy="1920240"/>
          </a:xfrm>
          <a:prstGeom prst="rect">
            <a:avLst/>
          </a:prstGeom>
          <a:solidFill>
            <a:srgbClr val="111C38"/>
          </a:solidFill>
          <a:ln w="10160">
            <a:solidFill>
              <a:srgbClr val="1E30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14400"/>
            <a:ext cx="4160520" cy="384048"/>
          </a:xfrm>
          <a:prstGeom prst="rect">
            <a:avLst/>
          </a:prstGeom>
          <a:solidFill>
            <a:srgbClr val="1A2A50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1737360" cy="457200"/>
          </a:xfrm>
          <a:prstGeom prst="rect">
            <a:avLst/>
          </a:prstGeom>
          <a:solidFill>
            <a:srgbClr val="0D1F42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53896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Lite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423160" y="1417320"/>
            <a:ext cx="1737360" cy="457200"/>
          </a:xfrm>
          <a:prstGeom prst="rect">
            <a:avLst/>
          </a:prstGeom>
          <a:solidFill>
            <a:srgbClr val="0D1F42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1453896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Face Mesh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057400"/>
            <a:ext cx="1737360" cy="457200"/>
          </a:xfrm>
          <a:prstGeom prst="rect">
            <a:avLst/>
          </a:prstGeom>
          <a:solidFill>
            <a:srgbClr val="0D1F42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93976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ArcFace / FaceNet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423160" y="2057400"/>
            <a:ext cx="1737360" cy="457200"/>
          </a:xfrm>
          <a:prstGeom prst="rect">
            <a:avLst/>
          </a:prstGeom>
          <a:solidFill>
            <a:srgbClr val="0D1F42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2093976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54880" y="914400"/>
            <a:ext cx="4160520" cy="1920240"/>
          </a:xfrm>
          <a:prstGeom prst="rect">
            <a:avLst/>
          </a:prstGeom>
          <a:solidFill>
            <a:srgbClr val="111C38"/>
          </a:solidFill>
          <a:ln w="10160">
            <a:solidFill>
              <a:srgbClr val="1E30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914400"/>
            <a:ext cx="4160520" cy="384048"/>
          </a:xfrm>
          <a:prstGeom prst="rect">
            <a:avLst/>
          </a:prstGeom>
          <a:solidFill>
            <a:srgbClr val="1A2A50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9601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92040" y="1417320"/>
            <a:ext cx="1737360" cy="457200"/>
          </a:xfrm>
          <a:prstGeom prst="rect">
            <a:avLst/>
          </a:prstGeom>
          <a:solidFill>
            <a:srgbClr val="0D1F42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1453896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/ Flutter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58000" y="1417320"/>
            <a:ext cx="1737360" cy="457200"/>
          </a:xfrm>
          <a:prstGeom prst="rect">
            <a:avLst/>
          </a:prstGeom>
          <a:solidFill>
            <a:srgbClr val="0D1F42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03720" y="1453896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Camera2 API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92040" y="2057400"/>
            <a:ext cx="1737360" cy="457200"/>
          </a:xfrm>
          <a:prstGeom prst="rect">
            <a:avLst/>
          </a:prstGeom>
          <a:solidFill>
            <a:srgbClr val="0D1F42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2093976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Enclave / TEE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858000" y="2057400"/>
            <a:ext cx="1737360" cy="457200"/>
          </a:xfrm>
          <a:prstGeom prst="rect">
            <a:avLst/>
          </a:prstGeom>
          <a:solidFill>
            <a:srgbClr val="0D1F42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03720" y="2093976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SQLCipher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3017520"/>
            <a:ext cx="4160520" cy="1920240"/>
          </a:xfrm>
          <a:prstGeom prst="rect">
            <a:avLst/>
          </a:prstGeom>
          <a:solidFill>
            <a:srgbClr val="111C38"/>
          </a:solidFill>
          <a:ln w="10160">
            <a:solidFill>
              <a:srgbClr val="1E306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3017520"/>
            <a:ext cx="4160520" cy="384048"/>
          </a:xfrm>
          <a:prstGeom prst="rect">
            <a:avLst/>
          </a:prstGeom>
          <a:solidFill>
            <a:srgbClr val="1A2A5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0632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3520440"/>
            <a:ext cx="1737360" cy="457200"/>
          </a:xfrm>
          <a:prstGeom prst="rect">
            <a:avLst/>
          </a:prstGeom>
          <a:solidFill>
            <a:srgbClr val="0D1F42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557016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423160" y="3520440"/>
            <a:ext cx="1737360" cy="457200"/>
          </a:xfrm>
          <a:prstGeom prst="rect">
            <a:avLst/>
          </a:prstGeom>
          <a:solidFill>
            <a:srgbClr val="0D1F42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68880" y="3557016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57200" y="4160520"/>
            <a:ext cx="1737360" cy="457200"/>
          </a:xfrm>
          <a:prstGeom prst="rect">
            <a:avLst/>
          </a:prstGeom>
          <a:solidFill>
            <a:srgbClr val="0D1F42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197096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Queue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423160" y="4160520"/>
            <a:ext cx="1737360" cy="457200"/>
          </a:xfrm>
          <a:prstGeom prst="rect">
            <a:avLst/>
          </a:prstGeom>
          <a:solidFill>
            <a:srgbClr val="0D1F42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468880" y="4197096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/ K8s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754880" y="3017520"/>
            <a:ext cx="4160520" cy="1920240"/>
          </a:xfrm>
          <a:prstGeom prst="rect">
            <a:avLst/>
          </a:prstGeom>
          <a:solidFill>
            <a:srgbClr val="111C38"/>
          </a:solidFill>
          <a:ln w="10160">
            <a:solidFill>
              <a:srgbClr val="1E306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0" y="3017520"/>
            <a:ext cx="4160520" cy="384048"/>
          </a:xfrm>
          <a:prstGeom prst="rect">
            <a:avLst/>
          </a:prstGeom>
          <a:solidFill>
            <a:srgbClr val="1A2A5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30632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892040" y="3520440"/>
            <a:ext cx="1737360" cy="457200"/>
          </a:xfrm>
          <a:prstGeom prst="rect">
            <a:avLst/>
          </a:prstGeom>
          <a:solidFill>
            <a:srgbClr val="0D1F42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37760" y="3557016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Encryption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858000" y="3520440"/>
            <a:ext cx="1737360" cy="457200"/>
          </a:xfrm>
          <a:prstGeom prst="rect">
            <a:avLst/>
          </a:prstGeom>
          <a:solidFill>
            <a:srgbClr val="0D1F42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03720" y="3557016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HMAC Auth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892040" y="4160520"/>
            <a:ext cx="1737360" cy="457200"/>
          </a:xfrm>
          <a:prstGeom prst="rect">
            <a:avLst/>
          </a:prstGeom>
          <a:solidFill>
            <a:srgbClr val="0D1F42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37760" y="4197096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1.3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858000" y="4160520"/>
            <a:ext cx="1737360" cy="457200"/>
          </a:xfrm>
          <a:prstGeom prst="rect">
            <a:avLst/>
          </a:prstGeom>
          <a:solidFill>
            <a:srgbClr val="0D1F42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03720" y="4197096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FIDO2 Aligned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Us Innovative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932688"/>
            <a:ext cx="4160520" cy="1847088"/>
          </a:xfrm>
          <a:prstGeom prst="rect">
            <a:avLst/>
          </a:prstGeom>
          <a:solidFill>
            <a:srgbClr val="111C38"/>
          </a:solidFill>
          <a:ln w="10160">
            <a:solidFill>
              <a:srgbClr val="1E30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54880" y="932688"/>
            <a:ext cx="4160520" cy="1847088"/>
          </a:xfrm>
          <a:prstGeom prst="rect">
            <a:avLst/>
          </a:prstGeom>
          <a:solidFill>
            <a:srgbClr val="111C38"/>
          </a:solidFill>
          <a:ln w="10160">
            <a:solidFill>
              <a:srgbClr val="1E30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2944368"/>
            <a:ext cx="4160520" cy="1847088"/>
          </a:xfrm>
          <a:prstGeom prst="rect">
            <a:avLst/>
          </a:prstGeom>
          <a:solidFill>
            <a:srgbClr val="111C38"/>
          </a:solidFill>
          <a:ln w="10160">
            <a:solidFill>
              <a:srgbClr val="1E30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0" y="2944368"/>
            <a:ext cx="4160520" cy="1847088"/>
          </a:xfrm>
          <a:prstGeom prst="rect">
            <a:avLst/>
          </a:prstGeom>
          <a:solidFill>
            <a:srgbClr val="111C38"/>
          </a:solidFill>
          <a:ln w="10160">
            <a:solidFill>
              <a:srgbClr val="1E30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64515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NHAI's remote toll infrastructure where connectivity is unreliable.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61288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24712" y="106984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Multi-Modal Liveness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24712" y="1481328"/>
            <a:ext cx="3200400" cy="11430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passive depth analysis with active behavioral challenges (blink, head-turn) to defeat photo, video, and deepfake attacks — even on low-end cameras.</a:t>
            </a:r>
            <a:endParaRPr lang="en-US" sz="10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172968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24712" y="308152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Edge-Optimized ML Models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124712" y="3493008"/>
            <a:ext cx="3200400" cy="11430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quantized TFLite models run at 15 FPS on a Raspberry Pi 4. Face recognition completes in &lt;300ms on mid-range Android hardware.</a:t>
            </a:r>
            <a:endParaRPr lang="en-US" sz="10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161288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559552" y="106984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Offline-First Architecture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5559552" y="1481328"/>
            <a:ext cx="3200400" cy="11430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SQLite event queue stores all auth events locally. No stub, no degraded mode — full-featured operation without any network dependency.</a:t>
            </a:r>
            <a:endParaRPr lang="en-US" sz="10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172968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559552" y="308152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Privacy by Design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5559552" y="3493008"/>
            <a:ext cx="3200400" cy="11430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embeddings (512-dim vectors) stored instead of raw images. Embeddings are non-reversible — fully GDPR &amp; IT Act 2000 Section 43A compliant.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Architecture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91440"/>
            <a:ext cx="822960" cy="8229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20040" y="960120"/>
            <a:ext cx="8503920" cy="1234440"/>
          </a:xfrm>
          <a:prstGeom prst="rect">
            <a:avLst/>
          </a:prstGeom>
          <a:solidFill>
            <a:srgbClr val="111C38"/>
          </a:solidFill>
          <a:ln w="10160">
            <a:solidFill>
              <a:srgbClr val="1E306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20040" y="2331720"/>
            <a:ext cx="8503920" cy="1234440"/>
          </a:xfrm>
          <a:prstGeom prst="rect">
            <a:avLst/>
          </a:prstGeom>
          <a:solidFill>
            <a:srgbClr val="111C38"/>
          </a:solidFill>
          <a:ln w="10160">
            <a:solidFill>
              <a:srgbClr val="1E306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20040" y="3703320"/>
            <a:ext cx="8503920" cy="1234440"/>
          </a:xfrm>
          <a:prstGeom prst="rect">
            <a:avLst/>
          </a:prstGeom>
          <a:solidFill>
            <a:srgbClr val="111C38"/>
          </a:solidFill>
          <a:ln w="10160">
            <a:solidFill>
              <a:srgbClr val="1E306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Compliant: ISO/IEC 30107 (Biometric PAD)  ·  GDPR  ·  IT Act 2000 §43A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98448"/>
            <a:ext cx="502920" cy="502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43000" y="106984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at Rest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143000" y="15087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AES-256 SQLCipher database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3611880" y="15087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Key stored in Android Keystore / iOS Secure Enclave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6080760" y="15087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Face embedding vectors (non-reversible)</a:t>
            </a:r>
            <a:endParaRPr lang="en-US" sz="11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670048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43000" y="244144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 Transit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143000" y="28803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TLS 1.3 for all cloud sync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3611880" y="28803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HMAC-SHA256 signed payloads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6080760" y="28803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Certificate pinning</a:t>
            </a:r>
            <a:endParaRPr lang="en-US" sz="11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041648"/>
            <a:ext cx="502920" cy="5029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43000" y="381304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Anti-Spoofing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1143000" y="42519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Passive: depth map liveness analysis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3611880" y="42519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Active: blink + head-turn gesture challenge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6080760" y="42519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Replay attack detection via timestamp nonce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&amp; Deployment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91440"/>
            <a:ext cx="822960" cy="8229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20040" y="914400"/>
            <a:ext cx="2011680" cy="1371600"/>
          </a:xfrm>
          <a:prstGeom prst="rect">
            <a:avLst/>
          </a:prstGeom>
          <a:solidFill>
            <a:srgbClr val="111C38"/>
          </a:solidFill>
          <a:ln w="10160">
            <a:solidFill>
              <a:srgbClr val="1E306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11480" y="10058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&lt;300ms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11480" y="162763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Latency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(mid-range device)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478024" y="914400"/>
            <a:ext cx="2011680" cy="1371600"/>
          </a:xfrm>
          <a:prstGeom prst="rect">
            <a:avLst/>
          </a:prstGeom>
          <a:solidFill>
            <a:srgbClr val="111C38"/>
          </a:solidFill>
          <a:ln w="10160">
            <a:solidFill>
              <a:srgbClr val="1E306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569464" y="10058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50K+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2569464" y="162763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Templates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Device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636008" y="914400"/>
            <a:ext cx="2011680" cy="1371600"/>
          </a:xfrm>
          <a:prstGeom prst="rect">
            <a:avLst/>
          </a:prstGeom>
          <a:solidFill>
            <a:srgbClr val="111C38"/>
          </a:solidFill>
          <a:ln w="10160">
            <a:solidFill>
              <a:srgbClr val="1E306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10058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FPS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4727448" y="162763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Processing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Raspberry Pi 4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793992" y="914400"/>
            <a:ext cx="2011680" cy="1371600"/>
          </a:xfrm>
          <a:prstGeom prst="rect">
            <a:avLst/>
          </a:prstGeom>
          <a:solidFill>
            <a:srgbClr val="111C38"/>
          </a:solidFill>
          <a:ln w="10160">
            <a:solidFill>
              <a:srgbClr val="1E306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85432" y="10058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99.7%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6885432" y="162763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Accuracy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(LFW Benchmark)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65760" y="2468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Targets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320040" y="2880360"/>
            <a:ext cx="4160520" cy="841248"/>
          </a:xfrm>
          <a:prstGeom prst="rect">
            <a:avLst/>
          </a:prstGeom>
          <a:solidFill>
            <a:srgbClr val="111C38"/>
          </a:solidFill>
          <a:ln w="10160">
            <a:solidFill>
              <a:srgbClr val="1E306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29260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Toll Gates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7200" y="32735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4 + IR Camera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754880" y="2880360"/>
            <a:ext cx="4160520" cy="841248"/>
          </a:xfrm>
          <a:prstGeom prst="rect">
            <a:avLst/>
          </a:prstGeom>
          <a:solidFill>
            <a:srgbClr val="111C38"/>
          </a:solidFill>
          <a:ln w="10160">
            <a:solidFill>
              <a:srgbClr val="1E306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92040" y="29260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Agents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892040" y="32735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/ iOS mobile app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20040" y="3886200"/>
            <a:ext cx="4160520" cy="841248"/>
          </a:xfrm>
          <a:prstGeom prst="rect">
            <a:avLst/>
          </a:prstGeom>
          <a:solidFill>
            <a:srgbClr val="111C38"/>
          </a:solidFill>
          <a:ln w="10160">
            <a:solidFill>
              <a:srgbClr val="1E306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39319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 Posts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57200" y="42793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device + local server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754880" y="3886200"/>
            <a:ext cx="4160520" cy="841248"/>
          </a:xfrm>
          <a:prstGeom prst="rect">
            <a:avLst/>
          </a:prstGeom>
          <a:solidFill>
            <a:srgbClr val="111C38"/>
          </a:solidFill>
          <a:ln w="10160">
            <a:solidFill>
              <a:srgbClr val="1E306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92040" y="39319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Cities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892040" y="42793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microservices cluster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Workflow &amp; UI Screens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56032" y="822960"/>
            <a:ext cx="2011680" cy="1993392"/>
          </a:xfrm>
          <a:prstGeom prst="rect">
            <a:avLst/>
          </a:prstGeom>
          <a:solidFill>
            <a:srgbClr val="0D1B35"/>
          </a:solidFill>
          <a:ln w="10160">
            <a:solidFill>
              <a:srgbClr val="1E30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" y="841248"/>
            <a:ext cx="996696" cy="1773936"/>
          </a:xfrm>
          <a:prstGeom prst="rect">
            <a:avLst/>
          </a:prstGeom>
          <a:solidFill>
            <a:srgbClr val="000000"/>
          </a:solidFill>
          <a:ln w="6350">
            <a:solidFill>
              <a:srgbClr val="1E306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859536"/>
            <a:ext cx="960120" cy="1737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01752" y="263347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Splash Screen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432304" y="822960"/>
            <a:ext cx="2011680" cy="1993392"/>
          </a:xfrm>
          <a:prstGeom prst="rect">
            <a:avLst/>
          </a:prstGeom>
          <a:solidFill>
            <a:srgbClr val="0D1B35"/>
          </a:solidFill>
          <a:ln w="10160">
            <a:solidFill>
              <a:srgbClr val="1E306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935224" y="841248"/>
            <a:ext cx="996696" cy="1773936"/>
          </a:xfrm>
          <a:prstGeom prst="rect">
            <a:avLst/>
          </a:prstGeom>
          <a:solidFill>
            <a:srgbClr val="000000"/>
          </a:solidFill>
          <a:ln w="6350">
            <a:solidFill>
              <a:srgbClr val="1E306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512" y="859536"/>
            <a:ext cx="960120" cy="17373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478024" y="263347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Login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4608576" y="822960"/>
            <a:ext cx="2011680" cy="1993392"/>
          </a:xfrm>
          <a:prstGeom prst="rect">
            <a:avLst/>
          </a:prstGeom>
          <a:solidFill>
            <a:srgbClr val="0D1B35"/>
          </a:solidFill>
          <a:ln w="10160">
            <a:solidFill>
              <a:srgbClr val="1E306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111496" y="841248"/>
            <a:ext cx="996696" cy="1773936"/>
          </a:xfrm>
          <a:prstGeom prst="rect">
            <a:avLst/>
          </a:prstGeom>
          <a:solidFill>
            <a:srgbClr val="000000"/>
          </a:solidFill>
          <a:ln w="6350">
            <a:solidFill>
              <a:srgbClr val="1E3060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9784" y="859536"/>
            <a:ext cx="960120" cy="17373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54296" y="263347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Face Auth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6784848" y="822960"/>
            <a:ext cx="2011680" cy="1993392"/>
          </a:xfrm>
          <a:prstGeom prst="rect">
            <a:avLst/>
          </a:prstGeom>
          <a:solidFill>
            <a:srgbClr val="0D1B35"/>
          </a:solidFill>
          <a:ln w="10160">
            <a:solidFill>
              <a:srgbClr val="1E3060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287768" y="841248"/>
            <a:ext cx="996696" cy="1773936"/>
          </a:xfrm>
          <a:prstGeom prst="rect">
            <a:avLst/>
          </a:prstGeom>
          <a:solidFill>
            <a:srgbClr val="000000"/>
          </a:solidFill>
          <a:ln w="6350">
            <a:solidFill>
              <a:srgbClr val="1E3060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6056" y="859536"/>
            <a:ext cx="960120" cy="17373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830568" y="263347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Liveness Check</a:t>
            </a:r>
            <a:endParaRPr lang="en-US" sz="950" dirty="0"/>
          </a:p>
        </p:txBody>
      </p:sp>
      <p:sp>
        <p:nvSpPr>
          <p:cNvPr id="19" name="Shape 13"/>
          <p:cNvSpPr/>
          <p:nvPr/>
        </p:nvSpPr>
        <p:spPr>
          <a:xfrm>
            <a:off x="256032" y="3035808"/>
            <a:ext cx="2011680" cy="1993392"/>
          </a:xfrm>
          <a:prstGeom prst="rect">
            <a:avLst/>
          </a:prstGeom>
          <a:solidFill>
            <a:srgbClr val="0D1B35"/>
          </a:solidFill>
          <a:ln w="10160">
            <a:solidFill>
              <a:srgbClr val="1E3060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758952" y="3054096"/>
            <a:ext cx="996696" cy="1773936"/>
          </a:xfrm>
          <a:prstGeom prst="rect">
            <a:avLst/>
          </a:prstGeom>
          <a:solidFill>
            <a:srgbClr val="000000"/>
          </a:solidFill>
          <a:ln w="6350">
            <a:solidFill>
              <a:srgbClr val="1E3060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072384"/>
            <a:ext cx="960120" cy="17373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01752" y="48463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Auth Success</a:t>
            </a:r>
            <a:endParaRPr lang="en-US" sz="950" dirty="0"/>
          </a:p>
        </p:txBody>
      </p:sp>
      <p:sp>
        <p:nvSpPr>
          <p:cNvPr id="23" name="Shape 16"/>
          <p:cNvSpPr/>
          <p:nvPr/>
        </p:nvSpPr>
        <p:spPr>
          <a:xfrm>
            <a:off x="2432304" y="3035808"/>
            <a:ext cx="2011680" cy="1993392"/>
          </a:xfrm>
          <a:prstGeom prst="rect">
            <a:avLst/>
          </a:prstGeom>
          <a:solidFill>
            <a:srgbClr val="0D1B35"/>
          </a:solidFill>
          <a:ln w="10160">
            <a:solidFill>
              <a:srgbClr val="1E3060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2935224" y="3054096"/>
            <a:ext cx="996696" cy="1773936"/>
          </a:xfrm>
          <a:prstGeom prst="rect">
            <a:avLst/>
          </a:prstGeom>
          <a:solidFill>
            <a:srgbClr val="000000"/>
          </a:solidFill>
          <a:ln w="6350">
            <a:solidFill>
              <a:srgbClr val="1E3060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53512" y="3072384"/>
            <a:ext cx="960120" cy="173736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2478024" y="48463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Offline Queue</a:t>
            </a:r>
            <a:endParaRPr lang="en-US" sz="950" dirty="0"/>
          </a:p>
        </p:txBody>
      </p:sp>
      <p:sp>
        <p:nvSpPr>
          <p:cNvPr id="27" name="Shape 19"/>
          <p:cNvSpPr/>
          <p:nvPr/>
        </p:nvSpPr>
        <p:spPr>
          <a:xfrm>
            <a:off x="4608576" y="3035808"/>
            <a:ext cx="2011680" cy="1993392"/>
          </a:xfrm>
          <a:prstGeom prst="rect">
            <a:avLst/>
          </a:prstGeom>
          <a:solidFill>
            <a:srgbClr val="0D1B35"/>
          </a:solidFill>
          <a:ln w="10160">
            <a:solidFill>
              <a:srgbClr val="1E3060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5111496" y="3054096"/>
            <a:ext cx="996696" cy="1773936"/>
          </a:xfrm>
          <a:prstGeom prst="rect">
            <a:avLst/>
          </a:prstGeom>
          <a:solidFill>
            <a:srgbClr val="000000"/>
          </a:solidFill>
          <a:ln w="6350">
            <a:solidFill>
              <a:srgbClr val="1E3060"/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9784" y="3072384"/>
            <a:ext cx="960120" cy="173736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654296" y="48463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Sync Status</a:t>
            </a:r>
            <a:endParaRPr lang="en-US" sz="950" dirty="0"/>
          </a:p>
        </p:txBody>
      </p:sp>
      <p:sp>
        <p:nvSpPr>
          <p:cNvPr id="31" name="Shape 22"/>
          <p:cNvSpPr/>
          <p:nvPr/>
        </p:nvSpPr>
        <p:spPr>
          <a:xfrm>
            <a:off x="6784848" y="3035808"/>
            <a:ext cx="2011680" cy="1993392"/>
          </a:xfrm>
          <a:prstGeom prst="rect">
            <a:avLst/>
          </a:prstGeom>
          <a:solidFill>
            <a:srgbClr val="0D1B35"/>
          </a:solidFill>
          <a:ln w="10160">
            <a:solidFill>
              <a:srgbClr val="1E3060"/>
            </a:solidFill>
            <a:prstDash val="solid"/>
          </a:ln>
        </p:spPr>
      </p:sp>
      <p:sp>
        <p:nvSpPr>
          <p:cNvPr id="32" name="Shape 23"/>
          <p:cNvSpPr/>
          <p:nvPr/>
        </p:nvSpPr>
        <p:spPr>
          <a:xfrm>
            <a:off x="7287768" y="3054096"/>
            <a:ext cx="996696" cy="1773936"/>
          </a:xfrm>
          <a:prstGeom prst="rect">
            <a:avLst/>
          </a:prstGeom>
          <a:solidFill>
            <a:srgbClr val="000000"/>
          </a:solidFill>
          <a:ln w="6350">
            <a:solidFill>
              <a:srgbClr val="1E3060"/>
            </a:solidFill>
            <a:prstDash val="solid"/>
          </a:ln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06056" y="3072384"/>
            <a:ext cx="960120" cy="173736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6830568" y="48463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Settings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45720"/>
            <a:ext cx="914400" cy="9144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20040" y="960120"/>
            <a:ext cx="8503920" cy="1170432"/>
          </a:xfrm>
          <a:prstGeom prst="rect">
            <a:avLst/>
          </a:prstGeom>
          <a:solidFill>
            <a:srgbClr val="111C38"/>
          </a:solidFill>
          <a:ln w="15240">
            <a:solidFill>
              <a:srgbClr val="00C6F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20040" y="960120"/>
            <a:ext cx="1783080" cy="1170432"/>
          </a:xfrm>
          <a:prstGeom prst="rect">
            <a:avLst/>
          </a:prstGeom>
          <a:solidFill>
            <a:srgbClr val="1A2A50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84048" y="1307592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(0–6 months)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2240280" y="105156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Multi-face detection for crowd authentication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2240280" y="1380744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Voice + fingerprint multi-modal fusion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2240280" y="1709928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Watchlist &amp; deny-list matching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20040" y="2313432"/>
            <a:ext cx="8503920" cy="1170432"/>
          </a:xfrm>
          <a:prstGeom prst="rect">
            <a:avLst/>
          </a:prstGeom>
          <a:solidFill>
            <a:srgbClr val="111C38"/>
          </a:solidFill>
          <a:ln w="15240">
            <a:solidFill>
              <a:srgbClr val="7B61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0040" y="2313432"/>
            <a:ext cx="1783080" cy="1170432"/>
          </a:xfrm>
          <a:prstGeom prst="rect">
            <a:avLst/>
          </a:prstGeom>
          <a:solidFill>
            <a:srgbClr val="1A2A50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84048" y="2660904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(6–18 months)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2240280" y="2404872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FASTag integration for seamless toll clearance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2240280" y="2734056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Federated learning across toll nodes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2240280" y="306324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ANPR + Face cross-validation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320040" y="3666744"/>
            <a:ext cx="8503920" cy="1170432"/>
          </a:xfrm>
          <a:prstGeom prst="rect">
            <a:avLst/>
          </a:prstGeom>
          <a:solidFill>
            <a:srgbClr val="111C38"/>
          </a:solidFill>
          <a:ln w="15240">
            <a:solidFill>
              <a:srgbClr val="00E5A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20040" y="3666744"/>
            <a:ext cx="1783080" cy="1170432"/>
          </a:xfrm>
          <a:prstGeom prst="rect">
            <a:avLst/>
          </a:prstGeom>
          <a:solidFill>
            <a:srgbClr val="1A2A5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84048" y="4014216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(18+ months)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2240280" y="3758184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Aadhaar-linked identity verification (offline OKYC)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2240280" y="4087368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Emotional state detection for driver safety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2240280" y="4416552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National biometric grid interoperability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targets deployment across 900+ NHAI toll plazas nationwide.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25000"/>
          </a:blip>
          <a:stretch>
            <a:fillRect/>
          </a:stretch>
        </p:blipFill>
        <p:spPr>
          <a:xfrm>
            <a:off x="2286000" y="182880"/>
            <a:ext cx="4572000" cy="47548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600" kern="0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CORE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841248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Secure. Offline. Unstoppable.</a:t>
            </a:r>
            <a:endParaRPr lang="en-US" sz="36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874520"/>
            <a:ext cx="320040" cy="3200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084832" y="187452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offline facial recognition — zero network dependency</a:t>
            </a:r>
            <a:endParaRPr lang="en-US" sz="13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2468880"/>
            <a:ext cx="320040" cy="32004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084832" y="246888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liveness detection defeats all known spoofing vectors</a:t>
            </a:r>
            <a:endParaRPr lang="en-US" sz="13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" y="3063240"/>
            <a:ext cx="320040" cy="32004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2084832" y="306324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encrypted local storage with smart cloud sync</a:t>
            </a:r>
            <a:endParaRPr lang="en-US" sz="13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5920" y="3657600"/>
            <a:ext cx="320040" cy="32004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2084832" y="365760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from a single toll booth to a national network</a:t>
            </a:r>
            <a:endParaRPr lang="en-US" sz="1350" dirty="0"/>
          </a:p>
        </p:txBody>
      </p:sp>
      <p:sp>
        <p:nvSpPr>
          <p:cNvPr id="13" name="Shape 6"/>
          <p:cNvSpPr/>
          <p:nvPr/>
        </p:nvSpPr>
        <p:spPr>
          <a:xfrm>
            <a:off x="1371600" y="4343400"/>
            <a:ext cx="6400800" cy="502920"/>
          </a:xfrm>
          <a:prstGeom prst="rect">
            <a:avLst/>
          </a:prstGeom>
          <a:solidFill>
            <a:srgbClr val="103050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14" name="Text 7"/>
          <p:cNvSpPr/>
          <p:nvPr/>
        </p:nvSpPr>
        <p:spPr>
          <a:xfrm>
            <a:off x="1371600" y="4352544"/>
            <a:ext cx="6400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NHAI  ·  Ready for India  ·  Designed for Scale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Offline Facial Recognition &amp; Liveness Detection</dc:title>
  <dc:subject>PptxGenJS Presentation</dc:subject>
  <dc:creator>PptxGenJS</dc:creator>
  <cp:lastModifiedBy>PptxGenJS</cp:lastModifiedBy>
  <cp:revision>1</cp:revision>
  <dcterms:created xsi:type="dcterms:W3CDTF">2026-06-05T11:49:36Z</dcterms:created>
  <dcterms:modified xsi:type="dcterms:W3CDTF">2026-06-05T11:49:36Z</dcterms:modified>
</cp:coreProperties>
</file>